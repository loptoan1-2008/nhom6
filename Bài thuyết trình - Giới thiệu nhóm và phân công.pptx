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Helvetica World" charset="1" panose="020B0500040000020004"/>
      <p:regular r:id="rId13"/>
    </p:embeddedFont>
    <p:embeddedFont>
      <p:font typeface="Georgia Pro Condensed" charset="1" panose="02040506050405020303"/>
      <p:regular r:id="rId14"/>
    </p:embeddedFont>
    <p:embeddedFont>
      <p:font typeface="Helvetica World Bold" charset="1" panose="020B080004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3949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01760"/>
            <a:ext cx="6886575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E3F2F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NHÓM SIX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879818"/>
            <a:ext cx="10151478" cy="255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8"/>
              </a:lnSpc>
            </a:pPr>
            <a:r>
              <a:rPr lang="en-US" sz="9798" spc="-342" strike="noStrike" u="none">
                <a:solidFill>
                  <a:srgbClr val="E8EAF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Giới thiệu nhóm và  phân công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84613" y="8119839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3852863"/>
            <a:ext cx="11201400" cy="4934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3"/>
              </a:lnSpc>
            </a:pPr>
            <a:r>
              <a:rPr lang="en-US" sz="350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Nhóm gồm 6 thành viên:</a:t>
            </a:r>
          </a:p>
          <a:p>
            <a:pPr algn="ctr">
              <a:lnSpc>
                <a:spcPts val="4913"/>
              </a:lnSpc>
            </a:pPr>
            <a:r>
              <a:rPr lang="en-US" sz="350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Hồ Hữu Triết - Phát triển HTML và đánh giá CSS</a:t>
            </a:r>
          </a:p>
          <a:p>
            <a:pPr algn="ctr">
              <a:lnSpc>
                <a:spcPts val="4913"/>
              </a:lnSpc>
            </a:pPr>
            <a:r>
              <a:rPr lang="en-US" sz="350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Trương Nguyễn Bảo Hân - Phát triển CSS </a:t>
            </a:r>
          </a:p>
          <a:p>
            <a:pPr algn="ctr">
              <a:lnSpc>
                <a:spcPts val="4913"/>
              </a:lnSpc>
            </a:pPr>
            <a:r>
              <a:rPr lang="en-US" sz="350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Nguyễn Ngọc Khang - Hỗ trợ code HTML</a:t>
            </a:r>
          </a:p>
          <a:p>
            <a:pPr algn="ctr">
              <a:lnSpc>
                <a:spcPts val="4913"/>
              </a:lnSpc>
            </a:pPr>
            <a:r>
              <a:rPr lang="en-US" sz="350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Vũ Trọng Phúc Anh - Hỗ trợ code CSS</a:t>
            </a:r>
          </a:p>
          <a:p>
            <a:pPr algn="ctr">
              <a:lnSpc>
                <a:spcPts val="4913"/>
              </a:lnSpc>
            </a:pPr>
            <a:r>
              <a:rPr lang="en-US" sz="350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Kiều Anh Đức - Thiết kế layout cho bài trình chiếu và hỗ trợ code CSS</a:t>
            </a:r>
          </a:p>
          <a:p>
            <a:pPr algn="ctr">
              <a:lnSpc>
                <a:spcPts val="4913"/>
              </a:lnSpc>
              <a:spcBef>
                <a:spcPct val="0"/>
              </a:spcBef>
            </a:pPr>
            <a:r>
              <a:rPr lang="en-US" sz="350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Đặng Minh Tiến - Thuyết trình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28359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E8EAF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Kế hoạch triển khai dự án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369175"/>
            <a:ext cx="6886575" cy="225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E3F2F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Dự án sẽ được triển khai theo các giai đoạn: nghiên cứu, thiết kế, lập trình, kiểm thử và hoàn thiện, đảm bảo chất lượng và tiến độ. Mỗi giai đoạn sẽ được thực hiện một cách </a:t>
            </a:r>
            <a:r>
              <a:rPr lang="en-US" b="true" sz="2499" spc="-37" strike="noStrike" u="none">
                <a:solidFill>
                  <a:srgbClr val="E3F2F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khoa học và hiệu quả</a:t>
            </a:r>
            <a:r>
              <a:rPr lang="en-US" sz="2499" spc="-37" strike="noStrike" u="none">
                <a:solidFill>
                  <a:srgbClr val="E3F2F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3276600"/>
            <a:ext cx="8593299" cy="312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70656" indent="-385328" lvl="1">
              <a:lnSpc>
                <a:spcPts val="4997"/>
              </a:lnSpc>
              <a:buFont typeface="Arial"/>
              <a:buChar char="•"/>
            </a:pPr>
            <a:r>
              <a:rPr lang="en-US" sz="356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Lên kế hoạchh và ý tưởng  trình bày bố cục cho trang web báo tường</a:t>
            </a:r>
          </a:p>
          <a:p>
            <a:pPr algn="ctr" marL="770656" indent="-385328" lvl="1">
              <a:lnSpc>
                <a:spcPts val="4997"/>
              </a:lnSpc>
              <a:buFont typeface="Arial"/>
              <a:buChar char="•"/>
            </a:pPr>
            <a:r>
              <a:rPr lang="en-US" sz="356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Phân công người làm HTML và CSS</a:t>
            </a:r>
          </a:p>
          <a:p>
            <a:pPr algn="ctr" marL="770656" indent="-385328" lvl="1">
              <a:lnSpc>
                <a:spcPts val="4997"/>
              </a:lnSpc>
              <a:buFont typeface="Arial"/>
              <a:buChar char="•"/>
            </a:pPr>
            <a:r>
              <a:rPr lang="en-US" sz="356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Code và debug code HTML và CSS</a:t>
            </a:r>
          </a:p>
          <a:p>
            <a:pPr algn="ctr" marL="770656" indent="-385328" lvl="1">
              <a:lnSpc>
                <a:spcPts val="4997"/>
              </a:lnSpc>
              <a:spcBef>
                <a:spcPct val="0"/>
              </a:spcBef>
              <a:buFont typeface="Arial"/>
              <a:buChar char="•"/>
            </a:pPr>
            <a:r>
              <a:rPr lang="en-US" sz="356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Hoàn thiện bài trình chiếu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49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3F2F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1A237E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4465383" cy="2443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0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E8EAF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Cấu trúc trang web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C5CAE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Tổ chức nội dung one-page hiệu quả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05257" y="5143500"/>
            <a:ext cx="4603464" cy="3006725"/>
            <a:chOff x="0" y="0"/>
            <a:chExt cx="6137953" cy="40089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6137953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C5CAE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Header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82675"/>
              <a:ext cx="6137953" cy="2926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 strike="noStrike" u="none">
                  <a:solidFill>
                    <a:srgbClr val="E3F2F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Phần </a:t>
              </a:r>
              <a:r>
                <a:rPr lang="en-US" b="true" sz="2499" spc="-37" strike="noStrike" u="none">
                  <a:solidFill>
                    <a:srgbClr val="E3F2F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header</a:t>
              </a:r>
              <a:r>
                <a:rPr lang="en-US" sz="2499" spc="-37" strike="noStrike" u="none">
                  <a:solidFill>
                    <a:srgbClr val="E3F2F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sẽ chứa logo và menu điều hướng, cung cấp cái nhìn tổng quan cho người dùng và giúp dễ dàng truy cập đến các phần nội dung khác.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3006725"/>
            <a:chOff x="0" y="0"/>
            <a:chExt cx="5346700" cy="40089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5346700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C5CAE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Giới thiệu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82675"/>
              <a:ext cx="5346700" cy="2926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 strike="noStrike" u="none">
                  <a:solidFill>
                    <a:srgbClr val="E3F2F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Phần </a:t>
              </a:r>
              <a:r>
                <a:rPr lang="en-US" b="true" sz="2499" spc="-37" strike="noStrike" u="none">
                  <a:solidFill>
                    <a:srgbClr val="E3F2F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giới thiệu</a:t>
              </a:r>
              <a:r>
                <a:rPr lang="en-US" sz="2499" spc="-37" strike="noStrike" u="none">
                  <a:solidFill>
                    <a:srgbClr val="E3F2F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sẽ mô tả ngắn gọn về trang web, giúp người dùng hiểu rõ mục đích và thông điệp mà trang muốn truyền tải ngay từ đầu.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3444875"/>
            <a:chOff x="0" y="0"/>
            <a:chExt cx="5346700" cy="45931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5346700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C5CAE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Các bài viết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82675"/>
              <a:ext cx="5346700" cy="3510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 strike="noStrike" u="none">
                  <a:solidFill>
                    <a:srgbClr val="E3F2F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Khối </a:t>
              </a:r>
              <a:r>
                <a:rPr lang="en-US" b="true" sz="2499" spc="-37" strike="noStrike" u="none">
                  <a:solidFill>
                    <a:srgbClr val="E3F2F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các bài viết</a:t>
              </a:r>
              <a:r>
                <a:rPr lang="en-US" sz="2499" spc="-37" strike="noStrike" u="none">
                  <a:solidFill>
                    <a:srgbClr val="E3F2F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sẽ bao gồm nội dung chính, cung cấp thông tin chi tiết, kiến thức và cập nhật mới nhất, giúp người dùng dễ dàng tìm kiếm thông tin hữu ích.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3949A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704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3352800"/>
            <a:ext cx="11242279" cy="6290323"/>
            <a:chOff x="0" y="0"/>
            <a:chExt cx="1471052" cy="8230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1052" cy="823089"/>
            </a:xfrm>
            <a:custGeom>
              <a:avLst/>
              <a:gdLst/>
              <a:ahLst/>
              <a:cxnLst/>
              <a:rect r="r" b="b" t="t" l="l"/>
              <a:pathLst>
                <a:path h="823089" w="1471052">
                  <a:moveTo>
                    <a:pt x="13773" y="0"/>
                  </a:moveTo>
                  <a:lnTo>
                    <a:pt x="1457279" y="0"/>
                  </a:lnTo>
                  <a:cubicBezTo>
                    <a:pt x="1460932" y="0"/>
                    <a:pt x="1464435" y="1451"/>
                    <a:pt x="1467018" y="4034"/>
                  </a:cubicBezTo>
                  <a:cubicBezTo>
                    <a:pt x="1469601" y="6617"/>
                    <a:pt x="1471052" y="10120"/>
                    <a:pt x="1471052" y="13773"/>
                  </a:cubicBezTo>
                  <a:lnTo>
                    <a:pt x="1471052" y="809316"/>
                  </a:lnTo>
                  <a:cubicBezTo>
                    <a:pt x="1471052" y="812969"/>
                    <a:pt x="1469601" y="816472"/>
                    <a:pt x="1467018" y="819055"/>
                  </a:cubicBezTo>
                  <a:cubicBezTo>
                    <a:pt x="1464435" y="821638"/>
                    <a:pt x="1460932" y="823089"/>
                    <a:pt x="1457279" y="823089"/>
                  </a:cubicBezTo>
                  <a:lnTo>
                    <a:pt x="13773" y="823089"/>
                  </a:lnTo>
                  <a:cubicBezTo>
                    <a:pt x="6166" y="823089"/>
                    <a:pt x="0" y="816922"/>
                    <a:pt x="0" y="809316"/>
                  </a:cubicBezTo>
                  <a:lnTo>
                    <a:pt x="0" y="13773"/>
                  </a:lnTo>
                  <a:cubicBezTo>
                    <a:pt x="0" y="10120"/>
                    <a:pt x="1451" y="6617"/>
                    <a:pt x="4034" y="4034"/>
                  </a:cubicBezTo>
                  <a:cubicBezTo>
                    <a:pt x="6617" y="1451"/>
                    <a:pt x="10120" y="0"/>
                    <a:pt x="13773" y="0"/>
                  </a:cubicBezTo>
                  <a:close/>
                </a:path>
              </a:pathLst>
            </a:custGeom>
            <a:blipFill>
              <a:blip r:embed="rId2"/>
              <a:stretch>
                <a:fillRect l="-521" t="0" r="-52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72950" y="3352800"/>
            <a:ext cx="5448300" cy="6267450"/>
            <a:chOff x="0" y="0"/>
            <a:chExt cx="715512" cy="8230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5512" cy="823089"/>
            </a:xfrm>
            <a:custGeom>
              <a:avLst/>
              <a:gdLst/>
              <a:ahLst/>
              <a:cxnLst/>
              <a:rect r="r" b="b" t="t" l="l"/>
              <a:pathLst>
                <a:path h="823089" w="715512">
                  <a:moveTo>
                    <a:pt x="28420" y="0"/>
                  </a:moveTo>
                  <a:lnTo>
                    <a:pt x="687092" y="0"/>
                  </a:lnTo>
                  <a:cubicBezTo>
                    <a:pt x="702788" y="0"/>
                    <a:pt x="715512" y="12724"/>
                    <a:pt x="715512" y="28420"/>
                  </a:cubicBezTo>
                  <a:lnTo>
                    <a:pt x="715512" y="794669"/>
                  </a:lnTo>
                  <a:cubicBezTo>
                    <a:pt x="715512" y="802206"/>
                    <a:pt x="712518" y="809435"/>
                    <a:pt x="707188" y="814765"/>
                  </a:cubicBezTo>
                  <a:cubicBezTo>
                    <a:pt x="701858" y="820095"/>
                    <a:pt x="694630" y="823089"/>
                    <a:pt x="687092" y="823089"/>
                  </a:cubicBezTo>
                  <a:lnTo>
                    <a:pt x="28420" y="823089"/>
                  </a:lnTo>
                  <a:cubicBezTo>
                    <a:pt x="12724" y="823089"/>
                    <a:pt x="0" y="810365"/>
                    <a:pt x="0" y="794669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03" r="0" b="-10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E8EAF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Kỹ thuật HTML đã áp dụng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1A23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704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3352800"/>
            <a:ext cx="11201400" cy="6267450"/>
            <a:chOff x="0" y="0"/>
            <a:chExt cx="1471052" cy="8230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1052" cy="823089"/>
            </a:xfrm>
            <a:custGeom>
              <a:avLst/>
              <a:gdLst/>
              <a:ahLst/>
              <a:cxnLst/>
              <a:rect r="r" b="b" t="t" l="l"/>
              <a:pathLst>
                <a:path h="823089" w="1471052">
                  <a:moveTo>
                    <a:pt x="13823" y="0"/>
                  </a:moveTo>
                  <a:lnTo>
                    <a:pt x="1457229" y="0"/>
                  </a:lnTo>
                  <a:cubicBezTo>
                    <a:pt x="1460895" y="0"/>
                    <a:pt x="1464411" y="1456"/>
                    <a:pt x="1467004" y="4049"/>
                  </a:cubicBezTo>
                  <a:cubicBezTo>
                    <a:pt x="1469596" y="6641"/>
                    <a:pt x="1471052" y="10157"/>
                    <a:pt x="1471052" y="13823"/>
                  </a:cubicBezTo>
                  <a:lnTo>
                    <a:pt x="1471052" y="809266"/>
                  </a:lnTo>
                  <a:cubicBezTo>
                    <a:pt x="1471052" y="812932"/>
                    <a:pt x="1469596" y="816448"/>
                    <a:pt x="1467004" y="819040"/>
                  </a:cubicBezTo>
                  <a:cubicBezTo>
                    <a:pt x="1464411" y="821632"/>
                    <a:pt x="1460895" y="823089"/>
                    <a:pt x="1457229" y="823089"/>
                  </a:cubicBezTo>
                  <a:lnTo>
                    <a:pt x="13823" y="823089"/>
                  </a:lnTo>
                  <a:cubicBezTo>
                    <a:pt x="10157" y="823089"/>
                    <a:pt x="6641" y="821632"/>
                    <a:pt x="4049" y="819040"/>
                  </a:cubicBezTo>
                  <a:cubicBezTo>
                    <a:pt x="1456" y="816448"/>
                    <a:pt x="0" y="812932"/>
                    <a:pt x="0" y="809266"/>
                  </a:cubicBezTo>
                  <a:lnTo>
                    <a:pt x="0" y="13823"/>
                  </a:lnTo>
                  <a:cubicBezTo>
                    <a:pt x="0" y="10157"/>
                    <a:pt x="1456" y="6641"/>
                    <a:pt x="4049" y="4049"/>
                  </a:cubicBezTo>
                  <a:cubicBezTo>
                    <a:pt x="6641" y="1456"/>
                    <a:pt x="10157" y="0"/>
                    <a:pt x="13823" y="0"/>
                  </a:cubicBezTo>
                  <a:close/>
                </a:path>
              </a:pathLst>
            </a:custGeom>
            <a:blipFill>
              <a:blip r:embed="rId2"/>
              <a:stretch>
                <a:fillRect l="-521" t="0" r="-52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72950" y="3352800"/>
            <a:ext cx="5448300" cy="6267450"/>
            <a:chOff x="0" y="0"/>
            <a:chExt cx="715512" cy="8230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5512" cy="823089"/>
            </a:xfrm>
            <a:custGeom>
              <a:avLst/>
              <a:gdLst/>
              <a:ahLst/>
              <a:cxnLst/>
              <a:rect r="r" b="b" t="t" l="l"/>
              <a:pathLst>
                <a:path h="823089" w="715512">
                  <a:moveTo>
                    <a:pt x="28420" y="0"/>
                  </a:moveTo>
                  <a:lnTo>
                    <a:pt x="687092" y="0"/>
                  </a:lnTo>
                  <a:cubicBezTo>
                    <a:pt x="702788" y="0"/>
                    <a:pt x="715512" y="12724"/>
                    <a:pt x="715512" y="28420"/>
                  </a:cubicBezTo>
                  <a:lnTo>
                    <a:pt x="715512" y="794669"/>
                  </a:lnTo>
                  <a:cubicBezTo>
                    <a:pt x="715512" y="802206"/>
                    <a:pt x="712518" y="809435"/>
                    <a:pt x="707188" y="814765"/>
                  </a:cubicBezTo>
                  <a:cubicBezTo>
                    <a:pt x="701858" y="820095"/>
                    <a:pt x="694630" y="823089"/>
                    <a:pt x="687092" y="823089"/>
                  </a:cubicBezTo>
                  <a:lnTo>
                    <a:pt x="28420" y="823089"/>
                  </a:lnTo>
                  <a:cubicBezTo>
                    <a:pt x="12724" y="823089"/>
                    <a:pt x="0" y="810365"/>
                    <a:pt x="0" y="794669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03" r="0" b="-10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E8EAF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Kĩ thuật CSS đã áp dụng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49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3F2F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1A237E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2128" y="1028700"/>
            <a:ext cx="12944475" cy="5030343"/>
            <a:chOff x="0" y="0"/>
            <a:chExt cx="17259300" cy="670712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E8EAF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Đánh giá sản phẩm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259300" cy="801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95"/>
                </a:lnSpc>
                <a:spcBef>
                  <a:spcPct val="0"/>
                </a:spcBef>
              </a:pPr>
              <a:r>
                <a:rPr lang="en-US" b="true" sz="3579" spc="-53">
                  <a:solidFill>
                    <a:srgbClr val="C5CAE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Những điểm mạnh và hạn chế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254375"/>
              <a:ext cx="13512134" cy="34527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11"/>
                </a:lnSpc>
              </a:pPr>
              <a:r>
                <a:rPr lang="en-US" sz="3579" spc="-53">
                  <a:solidFill>
                    <a:srgbClr val="E3F2F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Trang web đã đạt được nhiều </a:t>
              </a:r>
              <a:r>
                <a:rPr lang="en-US" b="true" sz="3579" spc="-53">
                  <a:solidFill>
                    <a:srgbClr val="E3F2F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mục tiêu quan trọng</a:t>
              </a:r>
              <a:r>
                <a:rPr lang="en-US" sz="3579" spc="-53">
                  <a:solidFill>
                    <a:srgbClr val="E3F2F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nhưng vẫn còn tồn tại một số hạn chế cần cải thiện, như tối ưu hóa hiệu suất và cải thiện trải nghiệm người dùng.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014938" y="6366584"/>
            <a:ext cx="16385650" cy="2515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72137" indent="-386069" lvl="1">
              <a:lnSpc>
                <a:spcPts val="5006"/>
              </a:lnSpc>
              <a:buFont typeface="Arial"/>
              <a:buChar char="•"/>
            </a:pPr>
            <a:r>
              <a:rPr lang="en-US" sz="357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Form bình luận chưa thể lưu trữ thông tin và xử lí dữ liệu được</a:t>
            </a:r>
          </a:p>
          <a:p>
            <a:pPr algn="ctr" marL="772137" indent="-386069" lvl="1">
              <a:lnSpc>
                <a:spcPts val="5006"/>
              </a:lnSpc>
              <a:spcBef>
                <a:spcPct val="0"/>
              </a:spcBef>
              <a:buFont typeface="Arial"/>
              <a:buChar char="•"/>
            </a:pPr>
            <a:r>
              <a:rPr lang="en-US" sz="357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Thiếu thống nhất về typography (phông chữ/độ đậm): Hiện dùng system font ổn, nhưng nếu muốn “báo tường” đúng chất hơn có thể thêm font tiêu đề khác (Google Fonts) — tuy nhiên đề có thể không yêu cầu.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949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06465" y="8944610"/>
            <a:ext cx="9581535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b="true" sz="3800" spc="-57">
                <a:solidFill>
                  <a:srgbClr val="E3F2F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Chúng tôi đánh giá cao</a:t>
            </a:r>
            <a:r>
              <a:rPr lang="en-US" sz="3800" spc="-57">
                <a:solidFill>
                  <a:srgbClr val="E3F2F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sự hỗ trợ của bạn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19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E8EAF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Cảm ơn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Bài thuyết trình - Giới thiệu nhóm và phân công</dc:description>
  <dc:identifier>DAG_CL2NtQc</dc:identifier>
  <dcterms:modified xsi:type="dcterms:W3CDTF">2011-08-01T06:04:30Z</dcterms:modified>
  <cp:revision>1</cp:revision>
  <dc:title>Bài thuyết trình - Giới thiệu nhóm và phân công</dc:title>
</cp:coreProperties>
</file>